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-8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01853D-50E0-7FD0-D553-9C8B61487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9D1DD1E-B236-BA80-CB3D-0FDE599DB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90A740F-43BE-230C-F1E4-0A31120A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FCF54E-DF06-BA31-86CE-C3F29D19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02224E-2F6F-1EA9-798C-61F5F2E7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4890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26884C-3F16-5097-4FC1-6886C69EB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993267-F8A8-57A8-58AE-D25FFC9D6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4E5072F-1B2D-26E9-68C7-DF2D512D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D4C69D-F21B-A62A-63AE-AB6D937C7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80DCFF-17F7-4328-0568-17D83B431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603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E61A4D-94E4-BEA9-8CB4-83D44085F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9D4916F-64D8-F261-24E9-552600E11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320A88D-99C8-8CC2-5010-0BB43A45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F3221E-03FB-20CC-4AE7-04F83FCF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09E28C6-A8E5-840A-E499-93E06EE1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8436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71B5D5-D541-24A6-A715-D5037594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693509-54B2-4273-9664-FB058B9D7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D38F7BC-CFAB-A1A6-12B2-581D1DF08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1359645-66C3-A9F0-37D0-6E815899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5A6C3AE-D9BC-CE45-8D17-2CA05A52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B58BABF-F86A-4494-80E8-AFF2330F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9534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AE465F-2AEA-FAB4-30C3-4454BFA3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C51C84-4199-B092-1C2F-4F7303971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92973D9-6ACF-6B77-6D80-8AF5A98B6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847E565-6911-BF6A-D36A-D9B3804E7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A570D3D-84B4-B032-2F8F-2AD2F2998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93C67BE-8B8A-0CC0-347F-8F3D1EA7B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748719C-116E-28BD-D402-AEDBA399D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9447376-E17A-5476-254E-413A6074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26839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82DCE0-F8EB-76B2-5B0F-DD4389D2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EC51616-7501-F621-50F2-03E20CACC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831B139-B5ED-5A7F-D9FE-381E92A13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CDCE846-D903-37F5-4505-46702654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1515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F70B9FD-7469-FEDA-5C05-07A3BDA77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3495172-4AF3-720B-05AF-3CC9C763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7412E31-9BD9-30EA-6F18-23B458B4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0271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E4DCF7-95A1-318F-04B0-82DF1EACE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B71ECC-285C-8F0B-0EE2-EDA8D94DA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538C724-D32B-D00F-5EDB-EA529E8E3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218A8BB-C45C-2AFB-630F-E5E39E2A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085B49D-A571-35F0-4874-9C47208A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B9027DF-5E3F-EA2B-DC70-154C46BA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3170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DD1D1E-9E25-5018-51AF-C9A450C7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1A538E9-7C43-3CD5-F0FC-E107995C1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FA4FA39-C13C-B96A-7FE6-467EA2175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073E8C1-E728-6060-F639-E82BE7AC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B0A1F1D-9C8C-9F49-6C8D-5D5DFFB65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08DC58D-7E3B-7793-0214-E8164AB2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6749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81E498-010D-4C76-F58A-D2C18AF2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BFC04B2-42C2-23A4-11CE-0CAA8CAEE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FC5444C-F379-2998-02EE-D9583842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DAA8AB-275D-3AC2-9A1B-268735A0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3F1C530-F2A7-D2DA-562E-2408F1C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5156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FA007F9-CF51-FA2F-4A84-94814906F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80CDA71-581D-4B87-0422-0AB7FB826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D36467-B530-B080-76CA-F9FE6F27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2D344CF-CAF8-3D19-A8CB-25A18E46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28146A1-976A-E4C9-FCCB-7033BDB9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3039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DECC225-2153-866B-3D6E-88CAF8539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1B51CF3-9ABA-CE7E-6208-6E7EC5C07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7C5C53-A18B-A1D8-106A-C6CEA73BB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02F15-AEFE-4C25-8DC9-8350A668AD4B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3958E2A-6CFD-9D11-5F43-6C0E5A7E4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9EF5DD8-90A6-21BF-8B26-08420F576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4500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23CDA2-55C0-97FF-FC5C-2A12E4E79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5567" y="3086670"/>
            <a:ext cx="9144000" cy="975172"/>
          </a:xfrm>
        </p:spPr>
        <p:txBody>
          <a:bodyPr>
            <a:no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RECOMMENDATION USING MACHINE LEARNING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82F19D3-A721-37B3-1BFF-096CA1512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5085" y="5214897"/>
            <a:ext cx="5050972" cy="124121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sz="1400" b="1" dirty="0"/>
              <a:t>Submitted to: Course Teacher, Application of AI &amp; ML, COA, GKVK, Bengaluru-65</a:t>
            </a:r>
          </a:p>
          <a:p>
            <a:pPr algn="l"/>
            <a:r>
              <a:rPr lang="en-IN" sz="1400" dirty="0"/>
              <a:t>Prathiksha J (AMB2179)</a:t>
            </a:r>
          </a:p>
          <a:p>
            <a:pPr algn="l"/>
            <a:r>
              <a:rPr lang="en-IN" sz="1400" dirty="0"/>
              <a:t>Tanuja S L (AMB2275)</a:t>
            </a:r>
          </a:p>
          <a:p>
            <a:pPr algn="l"/>
            <a:r>
              <a:rPr lang="en-IN" sz="1400" dirty="0"/>
              <a:t>Vidhyshree G S (AMB2292)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BA64635-5D0A-2372-382C-A978CB05A6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534310" y="401885"/>
            <a:ext cx="2874010" cy="19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0F93BF-F706-C597-2EA2-FB3C33B61910}"/>
              </a:ext>
            </a:extLst>
          </p:cNvPr>
          <p:cNvSpPr txBox="1"/>
          <p:nvPr/>
        </p:nvSpPr>
        <p:spPr>
          <a:xfrm>
            <a:off x="1012280" y="491364"/>
            <a:ext cx="7293430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UNIVERSITY OF AGRICULTURAL SCIENCES 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COLLEGE OF AGRICULTURE,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GKVK, BANGLORE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7688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EA67D4-B5AC-88D0-1315-459ABFF5F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5BA53-3DA3-A241-19B4-AAADAD8A0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570"/>
            <a:ext cx="10515600" cy="5045393"/>
          </a:xfrm>
        </p:spPr>
        <p:txBody>
          <a:bodyPr>
            <a:normAutofit/>
          </a:bodyPr>
          <a:lstStyle/>
          <a:p>
            <a:r>
              <a:rPr lang="en-IN" sz="1700" dirty="0"/>
              <a:t>Introduction</a:t>
            </a:r>
          </a:p>
          <a:p>
            <a:r>
              <a:rPr lang="en-IN" sz="1700" dirty="0"/>
              <a:t>Problem Statement</a:t>
            </a:r>
          </a:p>
          <a:p>
            <a:r>
              <a:rPr lang="en-IN" sz="1700" dirty="0"/>
              <a:t>Motivation</a:t>
            </a:r>
          </a:p>
          <a:p>
            <a:r>
              <a:rPr lang="en-IN" sz="1700" dirty="0"/>
              <a:t>Objectives of the Project</a:t>
            </a:r>
          </a:p>
          <a:p>
            <a:r>
              <a:rPr lang="en-IN" sz="1700" dirty="0"/>
              <a:t>Dataset Overview &amp; Features</a:t>
            </a:r>
          </a:p>
          <a:p>
            <a:r>
              <a:rPr lang="en-IN" sz="1700" dirty="0"/>
              <a:t>Methodology / Approach</a:t>
            </a:r>
          </a:p>
          <a:p>
            <a:r>
              <a:rPr lang="en-IN" sz="1700" dirty="0"/>
              <a:t>Tools and Technologies Used</a:t>
            </a:r>
          </a:p>
          <a:p>
            <a:r>
              <a:rPr lang="en-IN" sz="1700" dirty="0"/>
              <a:t>Results</a:t>
            </a:r>
          </a:p>
          <a:p>
            <a:r>
              <a:rPr lang="en-IN" sz="1700" dirty="0"/>
              <a:t>Discussion / Analysis</a:t>
            </a:r>
          </a:p>
          <a:p>
            <a:r>
              <a:rPr lang="en-IN" sz="1700" dirty="0"/>
              <a:t>Conclusion and Future Work</a:t>
            </a:r>
          </a:p>
          <a:p>
            <a:r>
              <a:rPr lang="en-IN" sz="1700" dirty="0"/>
              <a:t>References / Acknowledgements</a:t>
            </a:r>
          </a:p>
        </p:txBody>
      </p:sp>
    </p:spTree>
    <p:extLst>
      <p:ext uri="{BB962C8B-B14F-4D97-AF65-F5344CB8AC3E}">
        <p14:creationId xmlns:p14="http://schemas.microsoft.com/office/powerpoint/2010/main" xmlns="" val="3355718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4388F0-1B1A-F8E0-28FB-2E91D413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BC2088-2537-C898-EDE8-F29A38AB4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700" dirty="0"/>
              <a:t>Agriculture is the backbone of India’s economy and food security.</a:t>
            </a:r>
          </a:p>
          <a:p>
            <a:r>
              <a:rPr lang="en-IN" sz="1700" dirty="0"/>
              <a:t>Increasing population pressure and climate variability make optimal crop selection critical.</a:t>
            </a:r>
          </a:p>
          <a:p>
            <a:r>
              <a:rPr lang="en-IN" sz="1700" dirty="0"/>
              <a:t>Traditional methods rely on farmer experience — often not optimal for changing conditions.</a:t>
            </a:r>
          </a:p>
          <a:p>
            <a:r>
              <a:rPr lang="en-IN" sz="1700" dirty="0"/>
              <a:t>Machine Learning offers a data-driven approach: automate crop recommendations from soil and climate data.</a:t>
            </a:r>
          </a:p>
          <a:p>
            <a:r>
              <a:rPr lang="en-IN" sz="1700" dirty="0"/>
              <a:t>This project compares three classification algorithms — Logistic Regression, Decision Tree, and Random Forest.</a:t>
            </a:r>
          </a:p>
          <a:p>
            <a:r>
              <a:rPr lang="en-IN" sz="1700" dirty="0"/>
              <a:t>Applied to a real dataset: 399 samples, 7 features, 8 crop classes.</a:t>
            </a:r>
          </a:p>
        </p:txBody>
      </p:sp>
    </p:spTree>
    <p:extLst>
      <p:ext uri="{BB962C8B-B14F-4D97-AF65-F5344CB8AC3E}">
        <p14:creationId xmlns:p14="http://schemas.microsoft.com/office/powerpoint/2010/main" xmlns="" val="57685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EEC64E-6259-BDEB-81C7-0AA363268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F4DE5B-6CAB-30B3-9B45-552EB9F59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sz="1700" dirty="0"/>
              <a:t>Farmers lack access to scientific, data-driven tools for crop selection.</a:t>
            </a:r>
          </a:p>
          <a:p>
            <a:pPr>
              <a:buNone/>
            </a:pPr>
            <a:r>
              <a:rPr lang="en-IN" sz="1700" dirty="0"/>
              <a:t>Traditional crop selection relies on farmer experience — may not adapt to changing conditions.</a:t>
            </a:r>
          </a:p>
          <a:p>
            <a:pPr>
              <a:buNone/>
            </a:pPr>
            <a:r>
              <a:rPr lang="en-IN" sz="1700" dirty="0"/>
              <a:t>Problem: Given soil nutrient levels (N, P, K) and climate data, which crop should be planted?</a:t>
            </a:r>
          </a:p>
          <a:p>
            <a:pPr>
              <a:buNone/>
            </a:pPr>
            <a:r>
              <a:rPr lang="en-IN" sz="1700" dirty="0"/>
              <a:t>Scope: 8 crop types — rice, maize, chickpea, kidneybeans, pigeonpeas, mungbean, blackgram, lentil.</a:t>
            </a:r>
          </a:p>
          <a:p>
            <a:pPr>
              <a:buNone/>
            </a:pPr>
            <a:r>
              <a:rPr lang="en-IN" sz="1700" dirty="0"/>
              <a:t>Dataset: 399 balanced observations, 7 input features.</a:t>
            </a:r>
          </a:p>
          <a:p>
            <a:pPr>
              <a:buNone/>
            </a:pPr>
            <a:r>
              <a:rPr lang="en-IN" sz="1700" dirty="0"/>
              <a:t>Goal: Build accurate ML models for automated, data-driven crop recommendation.</a:t>
            </a:r>
          </a:p>
        </p:txBody>
      </p:sp>
    </p:spTree>
    <p:extLst>
      <p:ext uri="{BB962C8B-B14F-4D97-AF65-F5344CB8AC3E}">
        <p14:creationId xmlns:p14="http://schemas.microsoft.com/office/powerpoint/2010/main" xmlns="" val="342036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F78E53-408F-025E-A2C8-E0A26CA86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956503-8164-BAD0-BA07-89BB5BB1D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700" dirty="0"/>
              <a:t>India’s agriculture supports ~60% of its population; optimal crop selection impacts food security.</a:t>
            </a:r>
          </a:p>
          <a:p>
            <a:r>
              <a:rPr lang="en-IN" sz="1700" dirty="0"/>
              <a:t>Climate variability demands adaptive, data-driven recommendations beyond traditional methods.</a:t>
            </a:r>
          </a:p>
          <a:p>
            <a:r>
              <a:rPr lang="en-IN" sz="1700" dirty="0"/>
              <a:t>ML-based systems provide personalized, evidence-based crop guidance at scale.</a:t>
            </a:r>
          </a:p>
          <a:p>
            <a:r>
              <a:rPr lang="en-IN" sz="1700" dirty="0"/>
              <a:t>Enables precision agriculture: reduce resource wastage, improve yield, support sustainability.</a:t>
            </a:r>
          </a:p>
          <a:p>
            <a:r>
              <a:rPr lang="en-IN" sz="1700" dirty="0"/>
              <a:t>Real-world applicability demonstrated in IoT smart farm environments (Kalimuthu et al., 2020).</a:t>
            </a:r>
          </a:p>
        </p:txBody>
      </p:sp>
    </p:spTree>
    <p:extLst>
      <p:ext uri="{BB962C8B-B14F-4D97-AF65-F5344CB8AC3E}">
        <p14:creationId xmlns:p14="http://schemas.microsoft.com/office/powerpoint/2010/main" xmlns="" val="1350934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068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Review of literature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516" y="1238491"/>
            <a:ext cx="11401064" cy="49384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err="1" smtClean="0"/>
              <a:t>Modi</a:t>
            </a:r>
            <a:r>
              <a:rPr lang="en-US" sz="2400" dirty="0" smtClean="0"/>
              <a:t>, </a:t>
            </a:r>
            <a:r>
              <a:rPr lang="en-US" sz="2400" dirty="0" err="1" smtClean="0"/>
              <a:t>Daneshwari</a:t>
            </a:r>
            <a:r>
              <a:rPr lang="en-US" sz="2400" dirty="0" smtClean="0"/>
              <a:t>, et al. "Crop recommendation using machine learning algorithm." </a:t>
            </a:r>
            <a:r>
              <a:rPr lang="en-US" sz="2400" i="1" dirty="0" smtClean="0"/>
              <a:t>2021 5th International conference on information systems and computer networks (ISCON)</a:t>
            </a:r>
            <a:r>
              <a:rPr lang="en-US" sz="2400" dirty="0" smtClean="0"/>
              <a:t>. IEEE, 2021</a:t>
            </a:r>
            <a:r>
              <a:rPr lang="en-US" sz="2400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D</a:t>
            </a:r>
            <a:r>
              <a:rPr lang="en-US" sz="2400" dirty="0" smtClean="0"/>
              <a:t>., </a:t>
            </a:r>
            <a:r>
              <a:rPr lang="en-US" sz="2400" dirty="0" err="1" smtClean="0"/>
              <a:t>Sutagundar</a:t>
            </a:r>
            <a:r>
              <a:rPr lang="en-US" sz="2400" dirty="0" smtClean="0"/>
              <a:t>, A. V., </a:t>
            </a:r>
            <a:r>
              <a:rPr lang="en-US" sz="2400" dirty="0" err="1" smtClean="0"/>
              <a:t>Yalavigi</a:t>
            </a:r>
            <a:r>
              <a:rPr lang="en-US" sz="2400" dirty="0" smtClean="0"/>
              <a:t>, V., &amp; </a:t>
            </a:r>
            <a:r>
              <a:rPr lang="en-US" sz="2400" dirty="0" err="1" smtClean="0"/>
              <a:t>Aravatagimath</a:t>
            </a:r>
            <a:r>
              <a:rPr lang="en-US" sz="2400" dirty="0" smtClean="0"/>
              <a:t>, A. (2021, October). Crop recommendation using machine learning algorithm. In </a:t>
            </a:r>
            <a:r>
              <a:rPr lang="en-US" sz="2400" i="1" dirty="0" smtClean="0"/>
              <a:t>2021 5th International conference on information systems and computer networks </a:t>
            </a:r>
            <a:r>
              <a:rPr lang="en-US" sz="2400" i="1" dirty="0" smtClean="0"/>
              <a:t>(ISCON</a:t>
            </a:r>
            <a:r>
              <a:rPr lang="en-US" sz="2400" i="1" dirty="0" smtClean="0"/>
              <a:t>)</a:t>
            </a:r>
            <a:r>
              <a:rPr lang="en-US" sz="2400" dirty="0" smtClean="0"/>
              <a:t> (pp. 1-5). IEEE</a:t>
            </a:r>
            <a:r>
              <a:rPr lang="en-US" sz="2400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 smtClean="0"/>
              <a:t>Senapaty</a:t>
            </a:r>
            <a:r>
              <a:rPr lang="en-US" sz="2400" dirty="0" smtClean="0"/>
              <a:t>, </a:t>
            </a:r>
            <a:r>
              <a:rPr lang="en-US" sz="2400" dirty="0" err="1" smtClean="0"/>
              <a:t>Murali</a:t>
            </a:r>
            <a:r>
              <a:rPr lang="en-US" sz="2400" dirty="0" smtClean="0"/>
              <a:t> Krishna, </a:t>
            </a:r>
            <a:r>
              <a:rPr lang="en-US" sz="2400" dirty="0" err="1" smtClean="0"/>
              <a:t>Abhishek</a:t>
            </a:r>
            <a:r>
              <a:rPr lang="en-US" sz="2400" dirty="0" smtClean="0"/>
              <a:t> Ray, and </a:t>
            </a:r>
            <a:r>
              <a:rPr lang="en-US" sz="2400" dirty="0" err="1" smtClean="0"/>
              <a:t>Neelamadhab</a:t>
            </a:r>
            <a:r>
              <a:rPr lang="en-US" sz="2400" dirty="0" smtClean="0"/>
              <a:t> </a:t>
            </a:r>
            <a:r>
              <a:rPr lang="en-US" sz="2400" dirty="0" err="1" smtClean="0"/>
              <a:t>Padhy</a:t>
            </a:r>
            <a:r>
              <a:rPr lang="en-US" sz="2400" dirty="0" smtClean="0"/>
              <a:t>. "A decision support system for crop recommendation using machine learning classification algorithms." </a:t>
            </a:r>
            <a:r>
              <a:rPr lang="en-US" sz="2400" i="1" dirty="0" smtClean="0"/>
              <a:t>Agriculture</a:t>
            </a:r>
            <a:r>
              <a:rPr lang="en-US" sz="2400" dirty="0" smtClean="0"/>
              <a:t> 14.8 (2024): 1256.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305121-F97F-AF46-002F-0D26DA44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E08854-5D5C-AE73-4312-FD562407A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700" dirty="0"/>
              <a:t>Preprocess and analyze the Crop Recommendation Dataset (399 samples, 8 classes, 7 features).</a:t>
            </a:r>
          </a:p>
          <a:p>
            <a:r>
              <a:rPr lang="en-IN" sz="1700" dirty="0"/>
              <a:t>Implement and train 3 supervised ML classifiers: Logistic Regression, Decision Tree, Random Forest.</a:t>
            </a:r>
          </a:p>
          <a:p>
            <a:r>
              <a:rPr lang="en-IN" sz="1700" dirty="0"/>
              <a:t>Evaluate models using accuracy, precision, recall, F1-score, and confusion matrices.</a:t>
            </a:r>
          </a:p>
          <a:p>
            <a:r>
              <a:rPr lang="en-IN" sz="1700" dirty="0"/>
              <a:t>Perform GridSearchCV-based hyperparameter tuning on the Random Forest classifier.</a:t>
            </a:r>
          </a:p>
          <a:p>
            <a:r>
              <a:rPr lang="en-IN" sz="1700" dirty="0"/>
              <a:t>Analyze feature importance from LR coefficients and Pearson correlation heatmaps.</a:t>
            </a:r>
          </a:p>
          <a:p>
            <a:r>
              <a:rPr lang="en-IN" sz="1700" dirty="0"/>
              <a:t>Identify the best-performing model and provide insights for precision agriculture.</a:t>
            </a:r>
          </a:p>
        </p:txBody>
      </p:sp>
    </p:spTree>
    <p:extLst>
      <p:ext uri="{BB962C8B-B14F-4D97-AF65-F5344CB8AC3E}">
        <p14:creationId xmlns:p14="http://schemas.microsoft.com/office/powerpoint/2010/main" xmlns="" val="340753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77B1EC-DAE1-08A1-0D2C-E648A8BEB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8B5BF8-B967-AEEC-0908-E970CFB8E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700" dirty="0"/>
              <a:t>Source: Crop_recomm1.csv — real-world soil and climate dataset.</a:t>
            </a:r>
          </a:p>
          <a:p>
            <a:r>
              <a:rPr lang="en-IN" sz="1700" dirty="0"/>
              <a:t>Records: 399 balanced samples across 8 crop classes (~50 per class).</a:t>
            </a:r>
          </a:p>
          <a:p>
            <a:r>
              <a:rPr lang="en-IN" sz="1700" dirty="0"/>
              <a:t>7 Features: Nitrogen (N), Phosphorus (P), Potassium (K), Temperature, Humidity, pH, Rainfall.</a:t>
            </a:r>
          </a:p>
          <a:p>
            <a:r>
              <a:rPr lang="en-IN" sz="1700" dirty="0"/>
              <a:t>Target: Crop label (8 classes: rice, maize, chickpea, kidneybeans, pigeonpeas, etc.).</a:t>
            </a:r>
          </a:p>
          <a:p>
            <a:r>
              <a:rPr lang="en-IN" sz="1700" dirty="0"/>
              <a:t>Preprocessing: No missing values; 67:33 train-test split (random_state=0).</a:t>
            </a:r>
          </a:p>
          <a:p>
            <a:r>
              <a:rPr lang="en-IN" sz="1700" dirty="0"/>
              <a:t>StandardScaler for Logistic Regression; tree-based models used raw feature values.</a:t>
            </a:r>
          </a:p>
        </p:txBody>
      </p:sp>
    </p:spTree>
    <p:extLst>
      <p:ext uri="{BB962C8B-B14F-4D97-AF65-F5344CB8AC3E}">
        <p14:creationId xmlns:p14="http://schemas.microsoft.com/office/powerpoint/2010/main" xmlns="" val="2004531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E0EAB2-C356-0D86-3922-B30DFDC44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870117-2D87-0233-B6C1-16B48E8E8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700" dirty="0"/>
              <a:t>1. Data Collection: Load Crop_recomm1.csv (399 records, 7 features).</a:t>
            </a:r>
          </a:p>
          <a:p>
            <a:r>
              <a:rPr lang="en-IN" sz="1700" dirty="0"/>
              <a:t>2. Preprocessing: Feature-target split, 67:33 train-test split, StandardScaler for LR.</a:t>
            </a:r>
          </a:p>
          <a:p>
            <a:r>
              <a:rPr lang="en-IN" sz="1700" dirty="0"/>
              <a:t>3. Model Training: Logistic Regression, Decision Tree Classifier, Random Forest Classifier.</a:t>
            </a:r>
          </a:p>
          <a:p>
            <a:r>
              <a:rPr lang="en-IN" sz="1700" dirty="0"/>
              <a:t>4. Evaluation: Accuracy, Precision, Recall, F1-Score, Confusion Matrix per model.</a:t>
            </a:r>
          </a:p>
          <a:p>
            <a:r>
              <a:rPr lang="en-IN" sz="1700" dirty="0"/>
              <a:t>5. Hyperparameter Tuning: GridSearchCV (5-fold CV) on Random Forest.</a:t>
            </a:r>
          </a:p>
          <a:p>
            <a:r>
              <a:rPr lang="en-IN" sz="1700" dirty="0"/>
              <a:t>6. Visualization: Feature importance, confusion matrices, accuracy comparison, heatmap.</a:t>
            </a:r>
          </a:p>
          <a:p>
            <a:r>
              <a:rPr lang="en-IN" sz="1700" dirty="0"/>
              <a:t>7. Recommendation: Best model (RFC) predicts optimal crop for new soil-climate inputs.</a:t>
            </a:r>
          </a:p>
        </p:txBody>
      </p:sp>
    </p:spTree>
    <p:extLst>
      <p:ext uri="{BB962C8B-B14F-4D97-AF65-F5344CB8AC3E}">
        <p14:creationId xmlns:p14="http://schemas.microsoft.com/office/powerpoint/2010/main" xmlns="" val="2890018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EF3737-6A7E-FACA-1B48-F2B4C49FF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BE7DF8-8C69-C82E-B94C-865E63F26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700" dirty="0"/>
              <a:t>Language: Python 3</a:t>
            </a:r>
          </a:p>
          <a:p>
            <a:r>
              <a:rPr lang="en-IN" sz="1700" dirty="0"/>
              <a:t>Libraries: scikit-learn, pandas, numpy, matplotlib, seaborn</a:t>
            </a:r>
          </a:p>
          <a:p>
            <a:r>
              <a:rPr lang="en-IN" sz="1700" dirty="0"/>
              <a:t>ML Models: LogisticRegression, DecisionTreeClassifier, RandomForestClassifier</a:t>
            </a:r>
          </a:p>
          <a:p>
            <a:r>
              <a:rPr lang="en-IN" sz="1700" dirty="0"/>
              <a:t>Evaluation: accuracy_score, classification_report, confusion_matrix</a:t>
            </a:r>
          </a:p>
          <a:p>
            <a:r>
              <a:rPr lang="en-IN" sz="1700" dirty="0"/>
              <a:t>Hyperparameter Tuning: GridSearchCV with 5-fold cross-validation</a:t>
            </a:r>
          </a:p>
          <a:p>
            <a:r>
              <a:rPr lang="en-IN" sz="1700" dirty="0"/>
              <a:t>Environment: Jupyter Notebook / Google Colab</a:t>
            </a:r>
          </a:p>
          <a:p>
            <a:r>
              <a:rPr lang="en-IN" sz="1700" dirty="0"/>
              <a:t>Dataset: Crop_recomm1.csv (399 records, 8 crop classes)</a:t>
            </a:r>
          </a:p>
        </p:txBody>
      </p:sp>
    </p:spTree>
    <p:extLst>
      <p:ext uri="{BB962C8B-B14F-4D97-AF65-F5344CB8AC3E}">
        <p14:creationId xmlns:p14="http://schemas.microsoft.com/office/powerpoint/2010/main" xmlns="" val="2510310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CBD8BB-D97B-B56E-58CB-A288FA0C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4FC46C-36B3-176C-3E96-E8B290E60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700" dirty="0"/>
              <a:t>Logistic Regression: 94.74% accuracy — Good baseline; linear boundaries limit performance.</a:t>
            </a:r>
          </a:p>
          <a:p>
            <a:r>
              <a:rPr lang="en-IN" sz="1700" dirty="0"/>
              <a:t>Decision Tree: 97.74% accuracy — Strong and interpretable; minor maize-pigeonpeas confusion.</a:t>
            </a:r>
          </a:p>
          <a:p>
            <a:r>
              <a:rPr lang="en-IN" sz="1700" dirty="0"/>
              <a:t>Random Forest (200 estimators, entropy): 100.00% — Perfect accuracy on all 133 test samples.</a:t>
            </a:r>
          </a:p>
          <a:p>
            <a:r>
              <a:rPr lang="en-IN" sz="1700" dirty="0"/>
              <a:t>All 8 crop classes correctly classified with zero misclassifications by Random Forest.</a:t>
            </a:r>
          </a:p>
          <a:p>
            <a:r>
              <a:rPr lang="en-IN" sz="1700" dirty="0"/>
              <a:t>Feature importance: Potassium (K) and Rainfall are the most discriminative predictors.</a:t>
            </a:r>
          </a:p>
          <a:p>
            <a:r>
              <a:rPr lang="en-IN" sz="1700" dirty="0"/>
              <a:t>Pearson correlation: N, P, K are weakly correlated — effective independent predictors.</a:t>
            </a:r>
          </a:p>
        </p:txBody>
      </p:sp>
    </p:spTree>
    <p:extLst>
      <p:ext uri="{BB962C8B-B14F-4D97-AF65-F5344CB8AC3E}">
        <p14:creationId xmlns:p14="http://schemas.microsoft.com/office/powerpoint/2010/main" xmlns="" val="1381650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03D067-D44D-2C01-5DCA-2D2B3B747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Discussion /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9A64406-952C-94A7-6E55-7E59F2354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700" dirty="0"/>
              <a:t>Random Forest achieves 100% via ensemble averaging of 200 trees — reduces variance and overfitting.</a:t>
            </a:r>
          </a:p>
          <a:p>
            <a:r>
              <a:rPr lang="en-IN" sz="1700" dirty="0"/>
              <a:t>LR limitations: linear boundaries fail when classes are not linearly separable (blackgram, lentil).</a:t>
            </a:r>
          </a:p>
          <a:p>
            <a:r>
              <a:rPr lang="en-IN" sz="1700" dirty="0"/>
              <a:t>Decision Tree performs well (97.74%) but shows minor maize-pigeonpeas overlap in feature space.</a:t>
            </a:r>
          </a:p>
          <a:p>
            <a:r>
              <a:rPr lang="en-IN" sz="1700" dirty="0"/>
              <a:t>K (Potassium) and Rainfall emerged as most important predictors from LR coefficient analysis.</a:t>
            </a:r>
          </a:p>
          <a:p>
            <a:r>
              <a:rPr lang="en-IN" sz="1700" dirty="0"/>
              <a:t>GridSearchCV (5-fold CV) confirmed RFC default settings near-optimal: 100% CV accuracy.</a:t>
            </a:r>
          </a:p>
          <a:p>
            <a:r>
              <a:rPr lang="en-IN" sz="1700" dirty="0"/>
              <a:t>Best tuned RFC: n_estimators=300, max_depth=None, max_features=sqrt, criterion=entropy.</a:t>
            </a:r>
          </a:p>
        </p:txBody>
      </p:sp>
    </p:spTree>
    <p:extLst>
      <p:ext uri="{BB962C8B-B14F-4D97-AF65-F5344CB8AC3E}">
        <p14:creationId xmlns:p14="http://schemas.microsoft.com/office/powerpoint/2010/main" xmlns="" val="2011046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597EE7-CA32-48E0-B2F3-BD45410E3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928239-6939-C5DC-DD9E-9BBDF6030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700" dirty="0"/>
              <a:t>Random Forest (100% accuracy) is the recommended model for multi-class crop recommendation.</a:t>
            </a:r>
          </a:p>
          <a:p>
            <a:r>
              <a:rPr lang="en-IN" sz="1700" dirty="0"/>
              <a:t>Three ML models evaluated: LR (94.74%), Decision Tree (97.74%), Random Forest (100%).</a:t>
            </a:r>
          </a:p>
          <a:p>
            <a:r>
              <a:rPr lang="en-IN" sz="1700" dirty="0"/>
              <a:t>K (Potassium) and Rainfall are the most discriminative features for crop classification.</a:t>
            </a:r>
          </a:p>
          <a:p>
            <a:r>
              <a:rPr lang="en-IN" sz="1700" dirty="0"/>
              <a:t>Future: Expand to more crop classes and diverse Indian agro-climatic zones.</a:t>
            </a:r>
          </a:p>
          <a:p>
            <a:r>
              <a:rPr lang="en-IN" sz="1700" dirty="0"/>
              <a:t>Future: Develop a farmer-facing mobile/web app for instant crop recommendations.</a:t>
            </a:r>
          </a:p>
          <a:p>
            <a:r>
              <a:rPr lang="en-IN" sz="1700" dirty="0"/>
              <a:t>Future: Integrate IoT soil sensors for real-time precision agriculture advisory.</a:t>
            </a:r>
          </a:p>
          <a:p>
            <a:r>
              <a:rPr lang="en-IN" sz="1700" dirty="0"/>
              <a:t>Future: Apply SHAP values for interpretable per-prediction feature contribution scores.</a:t>
            </a:r>
          </a:p>
        </p:txBody>
      </p:sp>
    </p:spTree>
    <p:extLst>
      <p:ext uri="{BB962C8B-B14F-4D97-AF65-F5344CB8AC3E}">
        <p14:creationId xmlns:p14="http://schemas.microsoft.com/office/powerpoint/2010/main" xmlns="" val="4217651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16E04A-F69A-8A3C-B3E7-98F07E318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References / 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617850-9E33-CF25-FB7B-B6334515A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IN" sz="1700" dirty="0"/>
              <a:t>Doshi et al. (2023). AgroConsultant: Intelligent crop recommendation. IEEE ICIRCA.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700" dirty="0"/>
              <a:t>Pudumalar et al. (2017). Crop recommendation for precision agriculture. IEEE ICoAC.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700" dirty="0"/>
              <a:t>Agrawal &amp; Singh (2022). ML classifiers for crop recommendation. J. Agri. Informatics.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700" dirty="0"/>
              <a:t>Liakos et al. (2018). Machine learning in agriculture: A review. Sensors, 18(8).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700" dirty="0"/>
              <a:t>Van Klompenburg et al. (2020). Crop yield prediction using ML. Comp. &amp; Elec. in Agri.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700" dirty="0"/>
              <a:t>Nair &amp; Thomas (2023). Hyperparameter optimization for RF crop classification. CEA, 205.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700" dirty="0"/>
              <a:t>Kalimuthu et al. (2020). Crop prediction using machine learning. IEEE ICAST.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700" dirty="0"/>
              <a:t>Scikit-learn (2024). scikit-learn v1.4. https://scikit-learn.org</a:t>
            </a:r>
          </a:p>
        </p:txBody>
      </p:sp>
    </p:spTree>
    <p:extLst>
      <p:ext uri="{BB962C8B-B14F-4D97-AF65-F5344CB8AC3E}">
        <p14:creationId xmlns:p14="http://schemas.microsoft.com/office/powerpoint/2010/main" xmlns="" val="357713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1133</Words>
  <Application>Microsoft Office PowerPoint</Application>
  <PresentationFormat>Custom</PresentationFormat>
  <Paragraphs>105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CROP RECOMMENDATION USING MACHINE LEARNING ALGORITHMS</vt:lpstr>
      <vt:lpstr>Content</vt:lpstr>
      <vt:lpstr>Introduction</vt:lpstr>
      <vt:lpstr>Problem Statement</vt:lpstr>
      <vt:lpstr>Motivation</vt:lpstr>
      <vt:lpstr>Review of literature</vt:lpstr>
      <vt:lpstr>Objectives of the Project</vt:lpstr>
      <vt:lpstr>Dataset Overview</vt:lpstr>
      <vt:lpstr>Methodology / Approach</vt:lpstr>
      <vt:lpstr>Tools and Technologies Used</vt:lpstr>
      <vt:lpstr>Results</vt:lpstr>
      <vt:lpstr>Discussion / Analysis</vt:lpstr>
      <vt:lpstr>Conclusion and Future Work</vt:lpstr>
      <vt:lpstr>References / Acknowledgements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RECOMMENDATION USING MACHINE LEARNING ALGORITHMS</dc:title>
  <dc:creator>PRABHURAJ METIPATIL</dc:creator>
  <cp:lastModifiedBy>CSL--35</cp:lastModifiedBy>
  <cp:revision>5</cp:revision>
  <dcterms:created xsi:type="dcterms:W3CDTF">2026-04-07T05:30:05Z</dcterms:created>
  <dcterms:modified xsi:type="dcterms:W3CDTF">2026-04-15T04:39:39Z</dcterms:modified>
</cp:coreProperties>
</file>